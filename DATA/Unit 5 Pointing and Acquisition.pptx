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2"/>
  </p:sldMasterIdLst>
  <p:notesMasterIdLst>
    <p:notesMasterId r:id="rId1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37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1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22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723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724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25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3" name="Picture 6" descr="Droplets-HD-Title-R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4F83-FA51-499A-85BC-C9236805F302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53AB4-3D82-431E-ACE1-0CB4A2D7576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2" name="Picture 2" descr="Droplets-HD-Content-R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4868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84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68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4F83-FA51-499A-85BC-C9236805F302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104868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8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53AB4-3D82-431E-ACE1-0CB4A2D7576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7" name="Picture 8" descr="Droplets-HD-Content-R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48654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55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5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4F83-FA51-499A-85BC-C9236805F302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104865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5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53AB4-3D82-431E-ACE1-0CB4A2D7576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4" name="Picture 9" descr="Droplets-HD-Content-R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4869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95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696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69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4F83-FA51-499A-85BC-C9236805F302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104869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9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53AB4-3D82-431E-ACE1-0CB4A2D7576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8" name="Picture 14" descr="Droplets-HD-Content-R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48659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60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1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66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664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4F83-FA51-499A-85BC-C9236805F302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1048665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66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53AB4-3D82-431E-ACE1-0CB4A2D7576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2" name="Picture 7" descr="Droplets-HD-Content-R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4862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2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4F83-FA51-499A-85BC-C9236805F302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1048623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2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53AB4-3D82-431E-ACE1-0CB4A2D7576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9" name="Picture 6" descr="Droplets-HD-Content-R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4866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4F83-FA51-499A-85BC-C9236805F302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104866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6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53AB4-3D82-431E-ACE1-0CB4A2D7576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6" name="Picture 10" descr="Droplets-HD-Content-R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48710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11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712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1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4F83-FA51-499A-85BC-C9236805F302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104871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71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53AB4-3D82-431E-ACE1-0CB4A2D7576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5" name="Picture 9" descr="Droplets-HD-Content-R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4863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36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48637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3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4F83-FA51-499A-85BC-C9236805F302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104863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4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53AB4-3D82-431E-ACE1-0CB4A2D7576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3" name="Picture 9" descr="Droplets-HD-Content-R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48688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89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48690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9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4F83-FA51-499A-85BC-C9236805F302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104869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9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53AB4-3D82-431E-ACE1-0CB4A2D7576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4" name="Picture 7" descr="Droplets-HD-Content-R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48630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31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3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4F83-FA51-499A-85BC-C9236805F302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1048633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3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53AB4-3D82-431E-ACE1-0CB4A2D7576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1" name="Picture 10" descr="Droplets-HD-Content-R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48675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76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7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4F83-FA51-499A-85BC-C9236805F302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104867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8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53AB4-3D82-431E-ACE1-0CB4A2D75765}" type="slidenum">
              <a:rPr lang="en-IN" smtClean="0"/>
              <a:t>‹#›</a:t>
            </a:fld>
            <a:endParaRPr lang="en-IN"/>
          </a:p>
        </p:txBody>
      </p:sp>
      <p:sp>
        <p:nvSpPr>
          <p:cNvPr id="1048681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48682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3" name="Picture 7" descr="Droplets-HD-Content-R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48625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26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2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4F83-FA51-499A-85BC-C9236805F302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104862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2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53AB4-3D82-431E-ACE1-0CB4A2D7576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5" name="Picture 12" descr="Droplets-HD-Content-R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48700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01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02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0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04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0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06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0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4F83-FA51-499A-85BC-C9236805F302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1048708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70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53AB4-3D82-431E-ACE1-0CB4A2D7576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6" name="Picture 15" descr="Droplets-HD-Content-R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48641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42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43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48644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4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46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48647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48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4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48650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51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4F83-FA51-499A-85BC-C9236805F302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1048652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5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53AB4-3D82-431E-ACE1-0CB4A2D7576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7" name="Picture 7" descr="Droplets-HD-Content-R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4871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17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71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4F83-FA51-499A-85BC-C9236805F302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104871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72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53AB4-3D82-431E-ACE1-0CB4A2D7576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0" name="Picture 8" descr="Droplets-HD-Content-R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48670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7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67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4F83-FA51-499A-85BC-C9236805F302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104867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7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53AB4-3D82-431E-ACE1-0CB4A2D7576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58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59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4F83-FA51-499A-85BC-C9236805F302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104859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59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53AB4-3D82-431E-ACE1-0CB4A2D7576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</p:spPr>
      </p:pic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219D4F83-FA51-499A-85BC-C9236805F302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A253AB4-3D82-431E-ACE1-0CB4A2D75765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Rectangle 1"/>
          <p:cNvSpPr>
            <a:spLocks noGrp="1" noChangeArrowheads="1"/>
          </p:cNvSpPr>
          <p:nvPr>
            <p:ph type="ctrTitle"/>
          </p:nvPr>
        </p:nvSpPr>
        <p:spPr bwMode="auto">
          <a:xfrm>
            <a:off x="973952" y="1626395"/>
            <a:ext cx="10068233" cy="14249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Acquisition and Pointing in </a:t>
            </a:r>
            <a:b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Free Space Optical Communication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48587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1591" lnSpcReduction="20000"/>
          </a:bodyPr>
          <a:lstStyle/>
          <a:p>
            <a:pPr algn="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algn="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SHAM GANESH V (2022504023) </a:t>
            </a:r>
          </a:p>
          <a:p>
            <a:pPr algn="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MADHAN K (2022504531) </a:t>
            </a:r>
          </a:p>
          <a:p>
            <a:pPr algn="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LOKESHWARAN R (2022504057)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Title 1"/>
          <p:cNvSpPr>
            <a:spLocks noGrp="1"/>
          </p:cNvSpPr>
          <p:nvPr>
            <p:ph type="title"/>
          </p:nvPr>
        </p:nvSpPr>
        <p:spPr>
          <a:xfrm>
            <a:off x="1066799" y="99567"/>
            <a:ext cx="10058400" cy="1450757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4" name="Content Placeholder 2"/>
          <p:cNvSpPr>
            <a:spLocks noGrp="1"/>
          </p:cNvSpPr>
          <p:nvPr>
            <p:ph idx="1"/>
          </p:nvPr>
        </p:nvSpPr>
        <p:spPr>
          <a:xfrm>
            <a:off x="2503538" y="1786295"/>
            <a:ext cx="7184923" cy="4351338"/>
          </a:xfrm>
        </p:spPr>
        <p:txBody>
          <a:bodyPr>
            <a:normAutofit fontScale="81667" lnSpcReduction="20000"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Acquisition, Tracking, and Pointing (ATP)?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Acquisition Process: Establishing the Link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 "Point Ahead Angle" (PAA)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Challenge: Acquisition Uncertainty Area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for Scanning the Uncertainty Area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Acquisition Approaches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Tracking and Pointing for Link Maintenance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Integrated ATP System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Title 1"/>
          <p:cNvSpPr>
            <a:spLocks noGrp="1"/>
          </p:cNvSpPr>
          <p:nvPr>
            <p:ph type="title"/>
          </p:nvPr>
        </p:nvSpPr>
        <p:spPr>
          <a:xfrm>
            <a:off x="604683" y="298336"/>
            <a:ext cx="10929783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Acquisition, Tracking, and Pointing (ATP)?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747866" y="1842608"/>
            <a:ext cx="10696267" cy="435864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Acquisition: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crucial first step of searching for and locating the receiving terminal to establish an initial optical link.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Tracking: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process of continuously maintaining the established line-of-sight connection, compensating for any movement of the terminals or atmospheric disturbances.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Pointing: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act of precisely aiming the narrow laser beam at the receiver's detector.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is ATP so critical in FSO?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FSO systems use highly directional, narrow laser beams.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Even minor pointing errors can cause a significant loss of signal or complete link failure, leading to data loss.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Title 1"/>
          <p:cNvSpPr>
            <a:spLocks noGrp="1"/>
          </p:cNvSpPr>
          <p:nvPr>
            <p:ph type="title"/>
          </p:nvPr>
        </p:nvSpPr>
        <p:spPr>
          <a:xfrm>
            <a:off x="1066800" y="-118643"/>
            <a:ext cx="10058400" cy="1450757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Acquisition Process: Establishing the Link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8" name="Rectangle 1"/>
          <p:cNvSpPr>
            <a:spLocks noChangeArrowheads="1"/>
          </p:cNvSpPr>
          <p:nvPr/>
        </p:nvSpPr>
        <p:spPr bwMode="auto">
          <a:xfrm>
            <a:off x="609600" y="1554328"/>
            <a:ext cx="10972800" cy="255454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Beacon Signal: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process begins with one terminal transmitting a wider "beacon" laser beam to scan the 'uncertainty area' where the other terminal is predicted to be.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Searching: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receiving terminal simultaneously searches for this beacon signal within its Field of View (FOV) using a Focal Pixel Array (FPA).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Locking 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Once the beacon is detected, the system locks onto the signal, narrows its field of view, and a return signal is sent to complete the link. </a:t>
            </a:r>
          </a:p>
        </p:txBody>
      </p:sp>
      <p:pic>
        <p:nvPicPr>
          <p:cNvPr id="2097154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893" y="4170688"/>
            <a:ext cx="9753933" cy="232218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Title 1"/>
          <p:cNvSpPr>
            <a:spLocks noGrp="1"/>
          </p:cNvSpPr>
          <p:nvPr>
            <p:ph type="title"/>
          </p:nvPr>
        </p:nvSpPr>
        <p:spPr>
          <a:xfrm>
            <a:off x="830648" y="231057"/>
            <a:ext cx="10364451" cy="1596177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Acquisition Process: Establishing the Link</a:t>
            </a:r>
            <a:endParaRPr lang="en-IN" sz="4000" dirty="0"/>
          </a:p>
        </p:txBody>
      </p:sp>
      <p:pic>
        <p:nvPicPr>
          <p:cNvPr id="209715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5110" y="1690688"/>
            <a:ext cx="9173855" cy="2512025"/>
          </a:xfrm>
        </p:spPr>
      </p:pic>
      <p:pic>
        <p:nvPicPr>
          <p:cNvPr id="209715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110" y="4032401"/>
            <a:ext cx="9297698" cy="259454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 "Point Ahead Angle" (PAA)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1" name="TextBox 4"/>
          <p:cNvSpPr txBox="1"/>
          <p:nvPr/>
        </p:nvSpPr>
        <p:spPr>
          <a:xfrm>
            <a:off x="838200" y="2153264"/>
            <a:ext cx="9783096" cy="313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Due to the finite speed of light and the relative motion between terminals (e.g., a ground station and a satellite), the transmitter must aim at the future position of the receiver. This angular correction is the Point Ahead Angle.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Calculation: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PAA is determined by the relative velocity of the terminals and the round-trip time of light. For a Low Earth Orbit (LEO) satellite, this can be around 50 µrad.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PAA is managed by internal pointing elements within the ATP system.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5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085" y="5253126"/>
            <a:ext cx="6811326" cy="9335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Title 1"/>
          <p:cNvSpPr>
            <a:spLocks noGrp="1"/>
          </p:cNvSpPr>
          <p:nvPr>
            <p:ph type="title"/>
          </p:nvPr>
        </p:nvSpPr>
        <p:spPr>
          <a:xfrm>
            <a:off x="913773" y="296399"/>
            <a:ext cx="10364451" cy="1596177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Challenge: Acquisition Uncertainty Area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3" name="TextBox 4"/>
          <p:cNvSpPr txBox="1"/>
          <p:nvPr/>
        </p:nvSpPr>
        <p:spPr>
          <a:xfrm>
            <a:off x="838200" y="1690688"/>
            <a:ext cx="10515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initial uncertainty area is the region in which the target terminal is located, which must be systematically searched.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Contributors to Uncertainty: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Errors in satellite's position data (ephemeris uncertainty).Errors in the satellite's orientation (attitude uncertainty).These errors are random and contribute to both azimuth and elevation uncertainties.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large uncertainty area combined with a narrow beacon beam can lead to an unacceptably long acquisition time.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58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9678" y="3937457"/>
            <a:ext cx="8192643" cy="2165593"/>
          </a:xfrm>
          <a:prstGeom prst="rect">
            <a:avLst/>
          </a:prstGeom>
        </p:spPr>
      </p:pic>
      <p:sp>
        <p:nvSpPr>
          <p:cNvPr id="1048604" name="TextBox 5"/>
          <p:cNvSpPr txBox="1"/>
          <p:nvPr/>
        </p:nvSpPr>
        <p:spPr>
          <a:xfrm>
            <a:off x="2320413" y="6119092"/>
            <a:ext cx="102943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Fig4:Various contributors to the acquisition initial uncertainty area budget for ground-to satellite FSO link 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Title 1"/>
          <p:cNvSpPr>
            <a:spLocks noGrp="1"/>
          </p:cNvSpPr>
          <p:nvPr>
            <p:ph type="title"/>
          </p:nvPr>
        </p:nvSpPr>
        <p:spPr>
          <a:xfrm>
            <a:off x="913774" y="295822"/>
            <a:ext cx="10364451" cy="1596177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for Scanning the Uncertainty Area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6" name="TextBox 4"/>
          <p:cNvSpPr txBox="1"/>
          <p:nvPr/>
        </p:nvSpPr>
        <p:spPr>
          <a:xfrm rot="10800000" flipV="1">
            <a:off x="769374" y="1541711"/>
            <a:ext cx="817408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efficiently search the uncertainty area, specific scanning patterns are used: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7" name="Rectangle 1"/>
          <p:cNvSpPr>
            <a:spLocks noChangeArrowheads="1"/>
          </p:cNvSpPr>
          <p:nvPr/>
        </p:nvSpPr>
        <p:spPr bwMode="auto">
          <a:xfrm>
            <a:off x="769374" y="2111617"/>
            <a:ext cx="9881420" cy="374904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Spiral Scan: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most efficient technique where the beam scans outward in a spiral pattern from the center.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be a smooth continuous spiral or a step-by-step spiral.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Raster Scan: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beam scans horizontally and then steps down to the next line, similar to reading a page.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method is generally less efficient than spiral scanning.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Segmented Scan: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uncertainty area is divided into sections, and the area with the highest probability of finding the target is scanned first to reduce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for Scanning the Uncertainty Area</a:t>
            </a:r>
            <a:endParaRPr lang="en-IN" sz="4000" dirty="0"/>
          </a:p>
        </p:txBody>
      </p:sp>
      <p:pic>
        <p:nvPicPr>
          <p:cNvPr id="2097159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3384" y="2328241"/>
            <a:ext cx="9425232" cy="3172063"/>
          </a:xfrm>
        </p:spPr>
      </p:pic>
      <p:sp>
        <p:nvSpPr>
          <p:cNvPr id="1048609" name="TextBox 5"/>
          <p:cNvSpPr txBox="1"/>
          <p:nvPr/>
        </p:nvSpPr>
        <p:spPr>
          <a:xfrm>
            <a:off x="3283974" y="5500304"/>
            <a:ext cx="84557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Fig4:Spiral scan pattern (a), continuous spiral scan, and (b) step spiral scan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Title 1"/>
          <p:cNvSpPr>
            <a:spLocks noGrp="1"/>
          </p:cNvSpPr>
          <p:nvPr>
            <p:ph type="title"/>
          </p:nvPr>
        </p:nvSpPr>
        <p:spPr>
          <a:xfrm>
            <a:off x="913774" y="213272"/>
            <a:ext cx="10364451" cy="1596177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Acquisition Approaches</a:t>
            </a:r>
          </a:p>
        </p:txBody>
      </p:sp>
      <p:sp>
        <p:nvSpPr>
          <p:cNvPr id="1048611" name="Rectangle 1"/>
          <p:cNvSpPr>
            <a:spLocks noChangeArrowheads="1"/>
          </p:cNvSpPr>
          <p:nvPr/>
        </p:nvSpPr>
        <p:spPr bwMode="auto">
          <a:xfrm>
            <a:off x="838200" y="1478389"/>
            <a:ext cx="8266471" cy="466343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Stare/Scan (Most common for ground-to-satellite links):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receiver "stares"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a wide FOV. 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transmitter "scans"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uncertainty area with a narrow, powerful beam.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Other Approaches: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Stare/Stare: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Both use wide beams. Suited only for short distances due to power limitations.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Scan/Scan: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Both the transmitter beam and receiver FOV are scanned simultaneously.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Title 1"/>
          <p:cNvSpPr>
            <a:spLocks noGrp="1"/>
          </p:cNvSpPr>
          <p:nvPr>
            <p:ph type="title"/>
          </p:nvPr>
        </p:nvSpPr>
        <p:spPr>
          <a:xfrm>
            <a:off x="908857" y="431480"/>
            <a:ext cx="10364451" cy="1596177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Acquisition Approaches</a:t>
            </a:r>
            <a:endParaRPr lang="en-IN" sz="4000" dirty="0"/>
          </a:p>
        </p:txBody>
      </p:sp>
      <p:pic>
        <p:nvPicPr>
          <p:cNvPr id="2097160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4711" y="1800715"/>
            <a:ext cx="9562578" cy="3256570"/>
          </a:xfrm>
        </p:spPr>
      </p:pic>
      <p:sp>
        <p:nvSpPr>
          <p:cNvPr id="1048613" name="TextBox 5"/>
          <p:cNvSpPr txBox="1"/>
          <p:nvPr/>
        </p:nvSpPr>
        <p:spPr>
          <a:xfrm>
            <a:off x="963561" y="5191432"/>
            <a:ext cx="10255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Fig5:Stare/scan acquisition technique where one terminal (Terminal A) slowly scans its transmitting signal while other terminal (Terminal B) scans through its entire uncertain region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Title 1"/>
          <p:cNvSpPr>
            <a:spLocks noGrp="1"/>
          </p:cNvSpPr>
          <p:nvPr>
            <p:ph type="title"/>
          </p:nvPr>
        </p:nvSpPr>
        <p:spPr>
          <a:xfrm>
            <a:off x="838200" y="15055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Tracking and Pointing for Link Maintenance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15" name="Rectangle 1"/>
          <p:cNvSpPr>
            <a:spLocks noChangeArrowheads="1"/>
          </p:cNvSpPr>
          <p:nvPr/>
        </p:nvSpPr>
        <p:spPr bwMode="auto">
          <a:xfrm>
            <a:off x="1147187" y="1347976"/>
            <a:ext cx="9897626" cy="5273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 Pointing Error: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This is the sum of tracking errors and point-ahead errors.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Sources of Tracking Error: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Angular Jitter: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Small, rapid vibrations in the tracking system.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Residual Jitter: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Vibrations from larger components like gimbal systems that cannot be fully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compensated for.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Quadrant Detectors: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are specialized detectors (like QAPD or QPIN) divided into four sections.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 comparing the amount of light hitting each quadrant, the system can determine the exact position of the beam and generate error signals to correct the pointing.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Tracking and Pointing for Link Maintenance</a:t>
            </a:r>
            <a:endParaRPr lang="en-IN" sz="4000" dirty="0"/>
          </a:p>
        </p:txBody>
      </p:sp>
      <p:pic>
        <p:nvPicPr>
          <p:cNvPr id="2097161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2837" y="1797738"/>
            <a:ext cx="6239746" cy="2991267"/>
          </a:xfrm>
        </p:spPr>
      </p:pic>
      <p:sp>
        <p:nvSpPr>
          <p:cNvPr id="1048617" name="TextBox 5"/>
          <p:cNvSpPr txBox="1"/>
          <p:nvPr/>
        </p:nvSpPr>
        <p:spPr>
          <a:xfrm>
            <a:off x="4914260" y="5109346"/>
            <a:ext cx="1968321" cy="497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Fig6:Quadrant detector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19" name="Rectangle 1"/>
          <p:cNvSpPr>
            <a:spLocks noChangeArrowheads="1"/>
          </p:cNvSpPr>
          <p:nvPr/>
        </p:nvSpPr>
        <p:spPr bwMode="auto">
          <a:xfrm>
            <a:off x="751142" y="1733689"/>
            <a:ext cx="9975852" cy="283463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Acquisition, Tracking, and Pointing are fundamental to the success of any FSO communication system, especially over long distances.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process involves a trade-off between acquisition time, power requirements, and beam divergence.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robust ATP system, using efficient scanning techniques and precise tracking mechanisms, is essential for establishing and maintaining a reliable, high-bandwidth optical link.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Title 1"/>
          <p:cNvSpPr>
            <a:spLocks noGrp="1"/>
          </p:cNvSpPr>
          <p:nvPr>
            <p:ph type="title"/>
          </p:nvPr>
        </p:nvSpPr>
        <p:spPr>
          <a:xfrm>
            <a:off x="2109019" y="2131141"/>
            <a:ext cx="7973961" cy="2595717"/>
          </a:xfrm>
        </p:spPr>
        <p:txBody>
          <a:bodyPr>
            <a:noAutofit/>
          </a:bodyPr>
          <a:lstStyle/>
          <a:p>
            <a:pPr algn="ctr"/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F2CF4D3-D9A2-47A7-85B7-FDDD25749D5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942</Words>
  <Application>Microsoft Office PowerPoint</Application>
  <PresentationFormat>Widescreen</PresentationFormat>
  <Paragraphs>95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Times New Roman</vt:lpstr>
      <vt:lpstr>Tw Cen MT</vt:lpstr>
      <vt:lpstr>Droplet</vt:lpstr>
      <vt:lpstr>Acquisition and Pointing in  Free Space Optical Communication </vt:lpstr>
      <vt:lpstr>CONTENTS</vt:lpstr>
      <vt:lpstr>What is Acquisition, Tracking, and Pointing (ATP)?</vt:lpstr>
      <vt:lpstr>The Acquisition Process: Establishing the Link</vt:lpstr>
      <vt:lpstr>The Acquisition Process: Establishing the Link</vt:lpstr>
      <vt:lpstr>Understanding the "Point Ahead Angle" (PAA)</vt:lpstr>
      <vt:lpstr>The Challenge: Acquisition Uncertainty Area</vt:lpstr>
      <vt:lpstr>Techniques for Scanning the Uncertainty Area</vt:lpstr>
      <vt:lpstr>Techniques for Scanning the Uncertainty Area</vt:lpstr>
      <vt:lpstr>Common Acquisition Approaches</vt:lpstr>
      <vt:lpstr>Common Acquisition Approaches</vt:lpstr>
      <vt:lpstr>Tracking and Pointing for Link Maintenance</vt:lpstr>
      <vt:lpstr>Tracking and Pointing for Link Maintenance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Madhan K</dc:creator>
  <cp:lastModifiedBy>ajay raj</cp:lastModifiedBy>
  <cp:revision>1</cp:revision>
  <dcterms:created xsi:type="dcterms:W3CDTF">2025-10-15T06:44:55Z</dcterms:created>
  <dcterms:modified xsi:type="dcterms:W3CDTF">2026-09-21T11:58:16Z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0x010100CD4ADBE90CD3664A93F2FFC996AFC845</vt:lpwstr>
  </property>
  <property fmtid="{D5CDD505-2E9C-101B-9397-08002B2CF9AE}" pid="3" name="ICV">
    <vt:lpwstr>40bb08f8c745482ab626a6ffb9eeb3a5_23</vt:lpwstr>
  </property>
</Properties>
</file>